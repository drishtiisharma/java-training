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113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129.xml" ContentType="application/vnd.openxmlformats-officedocument.presentationml.slide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slides/slide125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s/slide132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s/slide119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117.xml" ContentType="application/vnd.openxmlformats-officedocument.presentationml.slide+xml"/>
  <Override PartName="/ppt/slides/slide126.xml" ContentType="application/vnd.openxmlformats-officedocument.presentationml.slide+xml"/>
  <Override PartName="/ppt/slides/slide12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slides/slide115.xml" ContentType="application/vnd.openxmlformats-officedocument.presentationml.slide+xml"/>
  <Override PartName="/ppt/slides/slide124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20" r:id="rId2"/>
    <p:sldId id="440" r:id="rId3"/>
    <p:sldId id="421" r:id="rId4"/>
    <p:sldId id="422" r:id="rId5"/>
    <p:sldId id="423" r:id="rId6"/>
    <p:sldId id="424" r:id="rId7"/>
    <p:sldId id="425" r:id="rId8"/>
    <p:sldId id="426" r:id="rId9"/>
    <p:sldId id="427" r:id="rId10"/>
    <p:sldId id="428" r:id="rId11"/>
    <p:sldId id="429" r:id="rId12"/>
    <p:sldId id="430" r:id="rId13"/>
    <p:sldId id="431" r:id="rId14"/>
    <p:sldId id="432" r:id="rId15"/>
    <p:sldId id="433" r:id="rId16"/>
    <p:sldId id="434" r:id="rId17"/>
    <p:sldId id="435" r:id="rId18"/>
    <p:sldId id="436" r:id="rId19"/>
    <p:sldId id="437" r:id="rId20"/>
    <p:sldId id="438" r:id="rId21"/>
    <p:sldId id="439" r:id="rId22"/>
    <p:sldId id="257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41" r:id="rId33"/>
    <p:sldId id="342" r:id="rId34"/>
    <p:sldId id="343" r:id="rId35"/>
    <p:sldId id="344" r:id="rId36"/>
    <p:sldId id="345" r:id="rId37"/>
    <p:sldId id="346" r:id="rId38"/>
    <p:sldId id="347" r:id="rId39"/>
    <p:sldId id="348" r:id="rId40"/>
    <p:sldId id="349" r:id="rId41"/>
    <p:sldId id="350" r:id="rId42"/>
    <p:sldId id="352" r:id="rId43"/>
    <p:sldId id="353" r:id="rId44"/>
    <p:sldId id="354" r:id="rId45"/>
    <p:sldId id="355" r:id="rId46"/>
    <p:sldId id="356" r:id="rId47"/>
    <p:sldId id="357" r:id="rId48"/>
    <p:sldId id="358" r:id="rId49"/>
    <p:sldId id="359" r:id="rId50"/>
    <p:sldId id="364" r:id="rId51"/>
    <p:sldId id="360" r:id="rId52"/>
    <p:sldId id="361" r:id="rId53"/>
    <p:sldId id="362" r:id="rId54"/>
    <p:sldId id="363" r:id="rId55"/>
    <p:sldId id="281" r:id="rId56"/>
    <p:sldId id="282" r:id="rId57"/>
    <p:sldId id="283" r:id="rId58"/>
    <p:sldId id="284" r:id="rId59"/>
    <p:sldId id="285" r:id="rId60"/>
    <p:sldId id="286" r:id="rId61"/>
    <p:sldId id="287" r:id="rId62"/>
    <p:sldId id="289" r:id="rId63"/>
    <p:sldId id="290" r:id="rId64"/>
    <p:sldId id="291" r:id="rId65"/>
    <p:sldId id="292" r:id="rId66"/>
    <p:sldId id="293" r:id="rId67"/>
    <p:sldId id="294" r:id="rId68"/>
    <p:sldId id="295" r:id="rId69"/>
    <p:sldId id="296" r:id="rId70"/>
    <p:sldId id="297" r:id="rId71"/>
    <p:sldId id="298" r:id="rId72"/>
    <p:sldId id="299" r:id="rId73"/>
    <p:sldId id="300" r:id="rId74"/>
    <p:sldId id="301" r:id="rId75"/>
    <p:sldId id="302" r:id="rId76"/>
    <p:sldId id="303" r:id="rId77"/>
    <p:sldId id="304" r:id="rId78"/>
    <p:sldId id="305" r:id="rId79"/>
    <p:sldId id="365" r:id="rId80"/>
    <p:sldId id="366" r:id="rId81"/>
    <p:sldId id="367" r:id="rId82"/>
    <p:sldId id="368" r:id="rId83"/>
    <p:sldId id="369" r:id="rId84"/>
    <p:sldId id="370" r:id="rId85"/>
    <p:sldId id="371" r:id="rId86"/>
    <p:sldId id="372" r:id="rId87"/>
    <p:sldId id="373" r:id="rId88"/>
    <p:sldId id="374" r:id="rId89"/>
    <p:sldId id="375" r:id="rId90"/>
    <p:sldId id="376" r:id="rId91"/>
    <p:sldId id="377" r:id="rId92"/>
    <p:sldId id="378" r:id="rId93"/>
    <p:sldId id="379" r:id="rId94"/>
    <p:sldId id="380" r:id="rId95"/>
    <p:sldId id="381" r:id="rId96"/>
    <p:sldId id="382" r:id="rId97"/>
    <p:sldId id="383" r:id="rId98"/>
    <p:sldId id="384" r:id="rId99"/>
    <p:sldId id="385" r:id="rId100"/>
    <p:sldId id="386" r:id="rId101"/>
    <p:sldId id="387" r:id="rId102"/>
    <p:sldId id="388" r:id="rId103"/>
    <p:sldId id="389" r:id="rId104"/>
    <p:sldId id="390" r:id="rId105"/>
    <p:sldId id="391" r:id="rId106"/>
    <p:sldId id="392" r:id="rId107"/>
    <p:sldId id="393" r:id="rId108"/>
    <p:sldId id="394" r:id="rId109"/>
    <p:sldId id="395" r:id="rId110"/>
    <p:sldId id="396" r:id="rId111"/>
    <p:sldId id="397" r:id="rId112"/>
    <p:sldId id="398" r:id="rId113"/>
    <p:sldId id="399" r:id="rId114"/>
    <p:sldId id="400" r:id="rId115"/>
    <p:sldId id="401" r:id="rId116"/>
    <p:sldId id="402" r:id="rId117"/>
    <p:sldId id="403" r:id="rId118"/>
    <p:sldId id="404" r:id="rId119"/>
    <p:sldId id="405" r:id="rId120"/>
    <p:sldId id="406" r:id="rId121"/>
    <p:sldId id="407" r:id="rId122"/>
    <p:sldId id="408" r:id="rId123"/>
    <p:sldId id="409" r:id="rId124"/>
    <p:sldId id="410" r:id="rId125"/>
    <p:sldId id="411" r:id="rId126"/>
    <p:sldId id="412" r:id="rId127"/>
    <p:sldId id="413" r:id="rId128"/>
    <p:sldId id="414" r:id="rId129"/>
    <p:sldId id="415" r:id="rId130"/>
    <p:sldId id="416" r:id="rId131"/>
    <p:sldId id="417" r:id="rId132"/>
    <p:sldId id="418" r:id="rId133"/>
    <p:sldId id="419" r:id="rId1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slide" Target="slides/slide125.xml"/><Relationship Id="rId134" Type="http://schemas.openxmlformats.org/officeDocument/2006/relationships/slide" Target="slides/slide13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857232"/>
            <a:ext cx="8651915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7166"/>
            <a:ext cx="9144000" cy="6143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" y="285728"/>
            <a:ext cx="8915400" cy="6215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357166"/>
            <a:ext cx="9144000" cy="6215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6" y="214290"/>
            <a:ext cx="8858248" cy="550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214290"/>
            <a:ext cx="9144000" cy="635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285728"/>
            <a:ext cx="9143999" cy="6572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357166"/>
            <a:ext cx="8358245" cy="5857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71414"/>
            <a:ext cx="8705850" cy="2776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42984"/>
            <a:ext cx="9144000" cy="460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500042"/>
            <a:ext cx="7634317" cy="4148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785794"/>
            <a:ext cx="9143999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571480"/>
            <a:ext cx="9144000" cy="5715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42852"/>
            <a:ext cx="9144000" cy="6429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gi1.png"/>
          <p:cNvPicPr>
            <a:picLocks noChangeAspect="1"/>
          </p:cNvPicPr>
          <p:nvPr/>
        </p:nvPicPr>
        <p:blipFill>
          <a:blip r:embed="rId2"/>
          <a:srcRect l="13281" t="2685" r="61719" b="62524"/>
          <a:stretch>
            <a:fillRect/>
          </a:stretch>
        </p:blipFill>
        <p:spPr>
          <a:xfrm>
            <a:off x="205709" y="156271"/>
            <a:ext cx="7938191" cy="648743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gi12.png"/>
          <p:cNvPicPr>
            <a:picLocks noChangeAspect="1"/>
          </p:cNvPicPr>
          <p:nvPr/>
        </p:nvPicPr>
        <p:blipFill>
          <a:blip r:embed="rId2"/>
          <a:srcRect l="14062" t="6860" r="66406" b="69482"/>
          <a:stretch>
            <a:fillRect/>
          </a:stretch>
        </p:blipFill>
        <p:spPr>
          <a:xfrm>
            <a:off x="71406" y="428604"/>
            <a:ext cx="9034806" cy="61436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388" y="357166"/>
            <a:ext cx="9039225" cy="5929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rvlet vs jsp.png"/>
          <p:cNvPicPr>
            <a:picLocks noChangeAspect="1"/>
          </p:cNvPicPr>
          <p:nvPr/>
        </p:nvPicPr>
        <p:blipFill>
          <a:blip r:embed="rId2"/>
          <a:srcRect l="12500" t="5468" r="65625" b="66699"/>
          <a:stretch>
            <a:fillRect/>
          </a:stretch>
        </p:blipFill>
        <p:spPr>
          <a:xfrm>
            <a:off x="442885" y="642918"/>
            <a:ext cx="8486833" cy="606202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gi-vs-servlets.png"/>
          <p:cNvPicPr>
            <a:picLocks noChangeAspect="1"/>
          </p:cNvPicPr>
          <p:nvPr/>
        </p:nvPicPr>
        <p:blipFill>
          <a:blip r:embed="rId2"/>
          <a:srcRect b="38542"/>
          <a:stretch>
            <a:fillRect/>
          </a:stretch>
        </p:blipFill>
        <p:spPr>
          <a:xfrm>
            <a:off x="142844" y="0"/>
            <a:ext cx="88583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gi-vs-servlets.png"/>
          <p:cNvPicPr>
            <a:picLocks noChangeAspect="1"/>
          </p:cNvPicPr>
          <p:nvPr/>
        </p:nvPicPr>
        <p:blipFill>
          <a:blip r:embed="rId2"/>
          <a:srcRect t="60382"/>
          <a:stretch>
            <a:fillRect/>
          </a:stretch>
        </p:blipFill>
        <p:spPr>
          <a:xfrm>
            <a:off x="642910" y="357166"/>
            <a:ext cx="7858180" cy="59670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3643306" y="3500438"/>
            <a:ext cx="5286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(under the </a:t>
            </a:r>
            <a:r>
              <a:rPr lang="en-IN" b="1" dirty="0" smtClean="0"/>
              <a:t>project folder </a:t>
            </a:r>
            <a:r>
              <a:rPr lang="en-IN" dirty="0" smtClean="0"/>
              <a:t>directly we can place .html , .</a:t>
            </a:r>
            <a:r>
              <a:rPr lang="en-IN" dirty="0" err="1" smtClean="0"/>
              <a:t>js</a:t>
            </a:r>
            <a:r>
              <a:rPr lang="en-IN" dirty="0" smtClean="0"/>
              <a:t> , .</a:t>
            </a:r>
            <a:r>
              <a:rPr lang="en-IN" dirty="0" err="1" smtClean="0"/>
              <a:t>jsp</a:t>
            </a:r>
            <a:r>
              <a:rPr lang="en-IN" dirty="0" smtClean="0"/>
              <a:t> files , generally we call this area as public area)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71802" y="5143512"/>
            <a:ext cx="1928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(Web.xml)</a:t>
            </a:r>
            <a:endParaRPr lang="en-US" dirty="0"/>
          </a:p>
        </p:txBody>
      </p:sp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72396" y="2377602"/>
            <a:ext cx="785818" cy="256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34" y="1428736"/>
            <a:ext cx="85011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300" dirty="0" smtClean="0"/>
              <a:t>Above is standard directory structure , Eclipse IDE follows different directory structure.</a:t>
            </a:r>
            <a:endParaRPr lang="en-US" sz="3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472" y="214290"/>
            <a:ext cx="70009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300" dirty="0" smtClean="0"/>
              <a:t>First create a new folder , and double click on Eclipse icon and select this newly created folder as workspace ,After opening Eclipse , click on the “+” symbol (open perspective) in the top right corner</a:t>
            </a:r>
            <a:endParaRPr lang="en-US" sz="33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41" y="3357562"/>
            <a:ext cx="5796429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0166" y="214290"/>
            <a:ext cx="5715039" cy="6643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428604"/>
            <a:ext cx="8001056" cy="5929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33338"/>
            <a:ext cx="7286675" cy="679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5786" y="1214422"/>
            <a:ext cx="757242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300" dirty="0" smtClean="0"/>
              <a:t>If you select 3.0 or above version , servlet 3.0 version supports annotations .</a:t>
            </a:r>
          </a:p>
          <a:p>
            <a:r>
              <a:rPr lang="en-IN" sz="3300" dirty="0" smtClean="0"/>
              <a:t>It supports annotations means it doesn’t take web.xml file.</a:t>
            </a:r>
          </a:p>
          <a:p>
            <a:endParaRPr lang="en-IN" sz="3300" dirty="0" smtClean="0"/>
          </a:p>
          <a:p>
            <a:endParaRPr lang="en-US" sz="3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557023"/>
            <a:ext cx="6215106" cy="5678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642918"/>
            <a:ext cx="6715172" cy="5857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785794"/>
            <a:ext cx="4843487" cy="5072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428604"/>
            <a:ext cx="6715171" cy="6072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8596" y="1142984"/>
            <a:ext cx="82153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300" dirty="0" smtClean="0"/>
              <a:t>There are three ways to create a servlet,</a:t>
            </a:r>
          </a:p>
          <a:p>
            <a:r>
              <a:rPr lang="en-US" sz="3300" dirty="0" smtClean="0"/>
              <a:t> a. implements Servlet </a:t>
            </a:r>
            <a:r>
              <a:rPr lang="en-US" sz="3300" dirty="0" smtClean="0"/>
              <a:t> interface</a:t>
            </a:r>
            <a:endParaRPr lang="en-US" sz="3300" dirty="0" smtClean="0"/>
          </a:p>
          <a:p>
            <a:r>
              <a:rPr lang="en-US" sz="3300" dirty="0" smtClean="0"/>
              <a:t> b. extends GenericServlet </a:t>
            </a:r>
          </a:p>
          <a:p>
            <a:r>
              <a:rPr lang="en-US" sz="3300" dirty="0" smtClean="0"/>
              <a:t> c. extends HttpServlet</a:t>
            </a:r>
            <a:endParaRPr lang="en-US" sz="3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357166"/>
            <a:ext cx="8286807" cy="6143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500043"/>
            <a:ext cx="7858180" cy="5643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428604"/>
            <a:ext cx="7715304" cy="6143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14291"/>
            <a:ext cx="8358246" cy="6215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428604"/>
            <a:ext cx="8072494" cy="6215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7224" y="1643050"/>
            <a:ext cx="75009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 smtClean="0"/>
              <a:t>Open Servlet.class file using online java decompiler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214422"/>
            <a:ext cx="7972425" cy="4205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4290"/>
            <a:ext cx="8715404" cy="6143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0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604"/>
            <a:ext cx="9144000" cy="6000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6" y="214290"/>
            <a:ext cx="8924948" cy="6643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20" y="428604"/>
            <a:ext cx="857256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 smtClean="0"/>
              <a:t>At server side we create first servlet , after creating first servlet , we have to give some URL pattern to the client .</a:t>
            </a:r>
          </a:p>
          <a:p>
            <a:endParaRPr lang="en-IN" sz="2500" dirty="0" smtClean="0"/>
          </a:p>
          <a:p>
            <a:r>
              <a:rPr lang="en-IN" sz="2500" dirty="0" smtClean="0"/>
              <a:t>In first application we are just creating a servlet at server side , for that servlet I am creating one URL using </a:t>
            </a:r>
            <a:r>
              <a:rPr lang="en-IN" sz="2500" b="1" dirty="0" smtClean="0">
                <a:solidFill>
                  <a:srgbClr val="FF0000"/>
                </a:solidFill>
              </a:rPr>
              <a:t>web.xml</a:t>
            </a:r>
            <a:r>
              <a:rPr lang="en-IN" sz="2500" dirty="0" smtClean="0"/>
              <a:t>  file , using the URL the client will access my servlet.</a:t>
            </a:r>
          </a:p>
          <a:p>
            <a:endParaRPr lang="en-IN" sz="2500" dirty="0" smtClean="0"/>
          </a:p>
          <a:p>
            <a:endParaRPr lang="en-IN" sz="2500" dirty="0" smtClean="0"/>
          </a:p>
          <a:p>
            <a:endParaRPr lang="en-IN" sz="2500" dirty="0" smtClean="0"/>
          </a:p>
          <a:p>
            <a:r>
              <a:rPr lang="en-IN" sz="2500" dirty="0" smtClean="0"/>
              <a:t>So first step is to create the servlet at server side.</a:t>
            </a:r>
            <a:endParaRPr lang="en-US" sz="2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20" y="142852"/>
            <a:ext cx="8643998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 smtClean="0"/>
              <a:t>Servlet 3.0 will have new concept like annotations , I said just now at the server side you can create the servlet , for the servlet we have to create one URL pattern .</a:t>
            </a:r>
          </a:p>
          <a:p>
            <a:endParaRPr lang="en-IN" sz="2500" dirty="0" smtClean="0"/>
          </a:p>
          <a:p>
            <a:r>
              <a:rPr lang="en-IN" sz="2500" dirty="0" smtClean="0"/>
              <a:t>How we will create the URL pattern ?</a:t>
            </a:r>
          </a:p>
          <a:p>
            <a:r>
              <a:rPr lang="en-IN" sz="2500" dirty="0" smtClean="0"/>
              <a:t>Previously we will create URL pattern using XML file (web.xml file)</a:t>
            </a:r>
          </a:p>
          <a:p>
            <a:endParaRPr lang="en-IN" sz="2500" dirty="0" smtClean="0"/>
          </a:p>
          <a:p>
            <a:r>
              <a:rPr lang="en-IN" sz="2500" dirty="0" smtClean="0"/>
              <a:t>For the single servlet to create URL pattern we have to write almost  all 10 lines of code.</a:t>
            </a:r>
          </a:p>
          <a:p>
            <a:endParaRPr lang="en-IN" sz="2500" dirty="0" smtClean="0"/>
          </a:p>
          <a:p>
            <a:r>
              <a:rPr lang="en-IN" sz="2500" dirty="0" smtClean="0"/>
              <a:t>If </a:t>
            </a:r>
            <a:r>
              <a:rPr lang="en-IN" sz="2500" dirty="0" err="1" smtClean="0"/>
              <a:t>no.of</a:t>
            </a:r>
            <a:r>
              <a:rPr lang="en-IN" sz="2500" dirty="0" smtClean="0"/>
              <a:t> </a:t>
            </a:r>
            <a:r>
              <a:rPr lang="en-IN" sz="2500" dirty="0" err="1" smtClean="0"/>
              <a:t>servlets</a:t>
            </a:r>
            <a:r>
              <a:rPr lang="en-IN" sz="2500" dirty="0" smtClean="0"/>
              <a:t> are increased xml  configurations are increased .</a:t>
            </a:r>
          </a:p>
          <a:p>
            <a:r>
              <a:rPr lang="en-IN" sz="2500" dirty="0" smtClean="0"/>
              <a:t>To reduce that XML configurations instead of the XML , we are using annotations concept.</a:t>
            </a:r>
          </a:p>
          <a:p>
            <a:endParaRPr lang="en-US" sz="2500" dirty="0"/>
          </a:p>
        </p:txBody>
      </p:sp>
      <p:sp>
        <p:nvSpPr>
          <p:cNvPr id="3" name="TextBox 2"/>
          <p:cNvSpPr txBox="1"/>
          <p:nvPr/>
        </p:nvSpPr>
        <p:spPr>
          <a:xfrm>
            <a:off x="214282" y="6072206"/>
            <a:ext cx="864399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 smtClean="0"/>
              <a:t>Basically annotations will reduce the configurations of XML files .</a:t>
            </a:r>
            <a:endParaRPr lang="en-US" sz="2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4774" y="428604"/>
            <a:ext cx="8353801" cy="5929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89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41904" y="785794"/>
            <a:ext cx="7456410" cy="542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1"/>
            <a:ext cx="6929486" cy="6000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500034" y="6000768"/>
            <a:ext cx="83582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 smtClean="0"/>
              <a:t>Eclipse IDE  automatically generates  web.xml file,</a:t>
            </a:r>
          </a:p>
          <a:p>
            <a:r>
              <a:rPr lang="en-IN" sz="2500" dirty="0" smtClean="0"/>
              <a:t>By default class name is taken as URL pattern .  </a:t>
            </a:r>
            <a:endParaRPr lang="en-US" sz="2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227884"/>
            <a:ext cx="6215105" cy="6058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6225" y="214290"/>
            <a:ext cx="8591550" cy="6643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2087" y="285728"/>
            <a:ext cx="8039003" cy="628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500042"/>
            <a:ext cx="8283059" cy="5857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214290"/>
            <a:ext cx="9144000" cy="6357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282" y="214290"/>
            <a:ext cx="8572560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 smtClean="0"/>
              <a:t>Request</a:t>
            </a:r>
            <a:r>
              <a:rPr lang="en-IN" sz="2500" dirty="0" smtClean="0"/>
              <a:t> object contains the data which is coming from the client side , because from the client you are getting some username , password etc .</a:t>
            </a:r>
          </a:p>
          <a:p>
            <a:endParaRPr lang="en-IN" sz="2500" dirty="0" smtClean="0"/>
          </a:p>
          <a:p>
            <a:r>
              <a:rPr lang="en-IN" sz="2500" dirty="0" smtClean="0"/>
              <a:t>The details which are coming from the client side , those details are stored in </a:t>
            </a:r>
            <a:r>
              <a:rPr lang="en-IN" sz="2500" b="1" dirty="0" smtClean="0"/>
              <a:t>request</a:t>
            </a:r>
            <a:r>
              <a:rPr lang="en-IN" sz="2500" dirty="0" smtClean="0"/>
              <a:t> object.</a:t>
            </a:r>
          </a:p>
          <a:p>
            <a:endParaRPr lang="en-IN" sz="2500" dirty="0" smtClean="0"/>
          </a:p>
          <a:p>
            <a:r>
              <a:rPr lang="en-IN" sz="2500" dirty="0" smtClean="0"/>
              <a:t>What ever response you are trying to give to the browser  , that response we are adding to response object.</a:t>
            </a:r>
          </a:p>
          <a:p>
            <a:endParaRPr lang="en-IN" sz="2500" dirty="0" smtClean="0"/>
          </a:p>
          <a:p>
            <a:r>
              <a:rPr lang="en-IN" sz="2500" dirty="0" smtClean="0"/>
              <a:t>Some general settings are there for every application . Before sending response from the servlet , we have to specify what type of response we are sending to the browser.</a:t>
            </a:r>
            <a:endParaRPr lang="en-US" sz="2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6" y="1214422"/>
            <a:ext cx="8715404" cy="2638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43051"/>
            <a:ext cx="9144000" cy="244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6738" y="857232"/>
            <a:ext cx="8010525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900" y="642918"/>
            <a:ext cx="8458200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928670"/>
            <a:ext cx="8715435" cy="528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571480"/>
            <a:ext cx="7572428" cy="587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314" y="642918"/>
            <a:ext cx="8858280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000241"/>
            <a:ext cx="8534400" cy="2128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7158" y="500042"/>
            <a:ext cx="835824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 smtClean="0"/>
              <a:t>Initially response object is empty , we have to add some response into response object.</a:t>
            </a:r>
            <a:endParaRPr lang="en-US" sz="2600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2500306"/>
            <a:ext cx="7486650" cy="1952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428596" y="5214950"/>
            <a:ext cx="8215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 err="1" smtClean="0"/>
              <a:t>printWriter</a:t>
            </a:r>
            <a:r>
              <a:rPr lang="en-IN" sz="3000" dirty="0" smtClean="0"/>
              <a:t> is a class in java.</a:t>
            </a:r>
          </a:p>
          <a:p>
            <a:r>
              <a:rPr lang="en-IN" sz="3000" smtClean="0"/>
              <a:t>java.io package</a:t>
            </a:r>
            <a:endParaRPr lang="en-US" sz="3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85728"/>
            <a:ext cx="8358246" cy="10618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package </a:t>
            </a:r>
            <a:r>
              <a:rPr lang="en-US" dirty="0" err="1" smtClean="0"/>
              <a:t>com.mycompany</a:t>
            </a:r>
            <a:r>
              <a:rPr lang="en-US" dirty="0" smtClean="0"/>
              <a:t>;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java.io.IOException</a:t>
            </a:r>
            <a:r>
              <a:rPr lang="en-US" dirty="0" smtClean="0"/>
              <a:t>;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java.io.PrintWriter</a:t>
            </a:r>
            <a:r>
              <a:rPr lang="en-US" dirty="0" smtClean="0"/>
              <a:t>;</a:t>
            </a:r>
          </a:p>
          <a:p>
            <a:endParaRPr lang="en-US" dirty="0" smtClean="0"/>
          </a:p>
          <a:p>
            <a:r>
              <a:rPr lang="en-US" dirty="0" smtClean="0"/>
              <a:t>import </a:t>
            </a:r>
            <a:r>
              <a:rPr lang="en-US" dirty="0" err="1" smtClean="0"/>
              <a:t>javax.servlet.Servlet</a:t>
            </a:r>
            <a:r>
              <a:rPr lang="en-US" dirty="0" smtClean="0"/>
              <a:t>;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javax.servlet.ServletConfig</a:t>
            </a:r>
            <a:r>
              <a:rPr lang="en-US" dirty="0" smtClean="0"/>
              <a:t>;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javax.servlet.ServletException</a:t>
            </a:r>
            <a:r>
              <a:rPr lang="en-US" dirty="0" smtClean="0"/>
              <a:t>;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javax.servlet.ServletRequest</a:t>
            </a:r>
            <a:r>
              <a:rPr lang="en-US" dirty="0" smtClean="0"/>
              <a:t>;</a:t>
            </a:r>
          </a:p>
          <a:p>
            <a:r>
              <a:rPr lang="en-US" dirty="0" smtClean="0"/>
              <a:t>import </a:t>
            </a:r>
            <a:r>
              <a:rPr lang="en-US" dirty="0" err="1" smtClean="0"/>
              <a:t>javax.servlet.ServletResponse</a:t>
            </a:r>
            <a:r>
              <a:rPr lang="en-US" dirty="0" smtClean="0"/>
              <a:t>;</a:t>
            </a:r>
          </a:p>
          <a:p>
            <a:endParaRPr lang="en-US" dirty="0" smtClean="0"/>
          </a:p>
          <a:p>
            <a:r>
              <a:rPr lang="en-US" dirty="0" smtClean="0"/>
              <a:t>public class </a:t>
            </a:r>
            <a:r>
              <a:rPr lang="en-US" dirty="0" err="1" smtClean="0"/>
              <a:t>FirstServlet</a:t>
            </a:r>
            <a:r>
              <a:rPr lang="en-US" dirty="0" smtClean="0"/>
              <a:t> implements Servlet {  </a:t>
            </a:r>
          </a:p>
          <a:p>
            <a:r>
              <a:rPr lang="en-US" dirty="0" smtClean="0"/>
              <a:t>    public </a:t>
            </a:r>
            <a:r>
              <a:rPr lang="en-US" dirty="0" err="1" smtClean="0"/>
              <a:t>FirstServlet</a:t>
            </a:r>
            <a:r>
              <a:rPr lang="en-US" dirty="0" smtClean="0"/>
              <a:t>() {</a:t>
            </a:r>
          </a:p>
          <a:p>
            <a:r>
              <a:rPr lang="en-US" dirty="0" smtClean="0"/>
              <a:t>    }</a:t>
            </a:r>
          </a:p>
          <a:p>
            <a:endParaRPr lang="en-US" dirty="0" smtClean="0"/>
          </a:p>
          <a:p>
            <a:r>
              <a:rPr lang="en-US" dirty="0" smtClean="0"/>
              <a:t>	public void init(</a:t>
            </a:r>
            <a:r>
              <a:rPr lang="en-US" dirty="0" err="1" smtClean="0"/>
              <a:t>ServletConfig</a:t>
            </a:r>
            <a:r>
              <a:rPr lang="en-US" dirty="0" smtClean="0"/>
              <a:t> </a:t>
            </a:r>
            <a:r>
              <a:rPr lang="en-US" dirty="0" err="1" smtClean="0"/>
              <a:t>config</a:t>
            </a:r>
            <a:r>
              <a:rPr lang="en-US" dirty="0" smtClean="0"/>
              <a:t>) throws </a:t>
            </a:r>
            <a:r>
              <a:rPr lang="en-US" dirty="0" err="1" smtClean="0"/>
              <a:t>ServletException</a:t>
            </a:r>
            <a:r>
              <a:rPr lang="en-US" dirty="0" smtClean="0"/>
              <a:t> {</a:t>
            </a:r>
          </a:p>
          <a:p>
            <a:r>
              <a:rPr lang="en-US" dirty="0" smtClean="0"/>
              <a:t>		</a:t>
            </a:r>
          </a:p>
          <a:p>
            <a:r>
              <a:rPr lang="en-US" dirty="0" smtClean="0"/>
              <a:t>	}	</a:t>
            </a:r>
          </a:p>
          <a:p>
            <a:r>
              <a:rPr lang="en-US" dirty="0" smtClean="0"/>
              <a:t>	public void destroy() {</a:t>
            </a:r>
          </a:p>
          <a:p>
            <a:r>
              <a:rPr lang="en-US" dirty="0" smtClean="0"/>
              <a:t>		</a:t>
            </a:r>
          </a:p>
          <a:p>
            <a:r>
              <a:rPr lang="en-US" dirty="0" smtClean="0"/>
              <a:t>	}	</a:t>
            </a:r>
          </a:p>
          <a:p>
            <a:r>
              <a:rPr lang="en-US" dirty="0" smtClean="0"/>
              <a:t>	public </a:t>
            </a:r>
            <a:r>
              <a:rPr lang="en-US" dirty="0" err="1" smtClean="0"/>
              <a:t>ServletConfig</a:t>
            </a:r>
            <a:r>
              <a:rPr lang="en-US" dirty="0" smtClean="0"/>
              <a:t> </a:t>
            </a:r>
            <a:r>
              <a:rPr lang="en-US" dirty="0" err="1" smtClean="0"/>
              <a:t>getServletConfig</a:t>
            </a:r>
            <a:r>
              <a:rPr lang="en-US" dirty="0" smtClean="0"/>
              <a:t>() {</a:t>
            </a:r>
          </a:p>
          <a:p>
            <a:r>
              <a:rPr lang="en-US" dirty="0" smtClean="0"/>
              <a:t>		return null;</a:t>
            </a:r>
          </a:p>
          <a:p>
            <a:r>
              <a:rPr lang="en-US" dirty="0" smtClean="0"/>
              <a:t>	}	</a:t>
            </a:r>
          </a:p>
          <a:p>
            <a:r>
              <a:rPr lang="en-US" dirty="0" smtClean="0"/>
              <a:t>	public String </a:t>
            </a:r>
            <a:r>
              <a:rPr lang="en-US" dirty="0" err="1" smtClean="0"/>
              <a:t>getServletInfo</a:t>
            </a:r>
            <a:r>
              <a:rPr lang="en-US" dirty="0" smtClean="0"/>
              <a:t>() {</a:t>
            </a:r>
          </a:p>
          <a:p>
            <a:r>
              <a:rPr lang="en-US" dirty="0" smtClean="0"/>
              <a:t>		return null; </a:t>
            </a:r>
          </a:p>
          <a:p>
            <a:r>
              <a:rPr lang="en-US" dirty="0" smtClean="0"/>
              <a:t>	}	</a:t>
            </a:r>
          </a:p>
          <a:p>
            <a:r>
              <a:rPr lang="en-US" dirty="0" smtClean="0"/>
              <a:t>	public void service(</a:t>
            </a:r>
            <a:r>
              <a:rPr lang="en-US" dirty="0" err="1" smtClean="0"/>
              <a:t>ServletRequest</a:t>
            </a:r>
            <a:r>
              <a:rPr lang="en-US" dirty="0" smtClean="0"/>
              <a:t> request, </a:t>
            </a:r>
            <a:r>
              <a:rPr lang="en-US" dirty="0" err="1" smtClean="0"/>
              <a:t>ServletResponse</a:t>
            </a:r>
            <a:r>
              <a:rPr lang="en-US" dirty="0" smtClean="0"/>
              <a:t> response) throws </a:t>
            </a:r>
            <a:r>
              <a:rPr lang="en-US" dirty="0" err="1" smtClean="0"/>
              <a:t>ServletException</a:t>
            </a:r>
            <a:r>
              <a:rPr lang="en-US" dirty="0" smtClean="0"/>
              <a:t>, </a:t>
            </a:r>
            <a:r>
              <a:rPr lang="en-US" dirty="0" err="1" smtClean="0"/>
              <a:t>IOException</a:t>
            </a:r>
            <a:r>
              <a:rPr lang="en-US" dirty="0" smtClean="0"/>
              <a:t> {</a:t>
            </a:r>
          </a:p>
          <a:p>
            <a:r>
              <a:rPr lang="en-US" dirty="0" smtClean="0"/>
              <a:t>	  </a:t>
            </a:r>
            <a:r>
              <a:rPr lang="en-US" dirty="0" err="1" smtClean="0"/>
              <a:t>response.setContentType</a:t>
            </a:r>
            <a:r>
              <a:rPr lang="en-US" dirty="0" smtClean="0"/>
              <a:t>("text/html");   //By default response type is “text/html” </a:t>
            </a:r>
          </a:p>
          <a:p>
            <a:endParaRPr lang="en-US" dirty="0" smtClean="0"/>
          </a:p>
          <a:p>
            <a:r>
              <a:rPr lang="en-US" dirty="0" smtClean="0"/>
              <a:t>	  //</a:t>
            </a:r>
            <a:r>
              <a:rPr lang="en-US" dirty="0" err="1" smtClean="0"/>
              <a:t>response.setContentType</a:t>
            </a:r>
            <a:r>
              <a:rPr lang="en-US" dirty="0" smtClean="0"/>
              <a:t>("application/</a:t>
            </a:r>
            <a:r>
              <a:rPr lang="en-US" dirty="0" err="1" smtClean="0"/>
              <a:t>json</a:t>
            </a:r>
            <a:r>
              <a:rPr lang="en-US" dirty="0" smtClean="0"/>
              <a:t>");</a:t>
            </a:r>
          </a:p>
          <a:p>
            <a:r>
              <a:rPr lang="en-US" dirty="0" smtClean="0"/>
              <a:t>	  </a:t>
            </a:r>
            <a:r>
              <a:rPr lang="en-US" dirty="0" err="1" smtClean="0"/>
              <a:t>PrintWriter</a:t>
            </a:r>
            <a:r>
              <a:rPr lang="en-US" dirty="0" smtClean="0"/>
              <a:t> writer=</a:t>
            </a:r>
            <a:r>
              <a:rPr lang="en-US" dirty="0" err="1" smtClean="0"/>
              <a:t>response.getWriter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	  </a:t>
            </a:r>
            <a:r>
              <a:rPr lang="en-US" dirty="0" err="1" smtClean="0"/>
              <a:t>writer.println</a:t>
            </a:r>
            <a:r>
              <a:rPr lang="en-US" dirty="0" smtClean="0"/>
              <a:t>("This is first Servlet Application....");</a:t>
            </a:r>
          </a:p>
          <a:p>
            <a:endParaRPr lang="en-US" dirty="0" smtClean="0"/>
          </a:p>
          <a:p>
            <a:r>
              <a:rPr lang="en-US" dirty="0" smtClean="0"/>
              <a:t>	}</a:t>
            </a:r>
          </a:p>
          <a:p>
            <a:r>
              <a:rPr lang="en-US" dirty="0" smtClean="0"/>
              <a:t>}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500694" y="357166"/>
            <a:ext cx="3357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FirstServlet.java</a:t>
            </a:r>
            <a:endParaRPr 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5" y="214290"/>
            <a:ext cx="8743950" cy="6357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285728"/>
            <a:ext cx="892971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 smtClean="0"/>
              <a:t>&lt;?xml version=</a:t>
            </a:r>
            <a:r>
              <a:rPr lang="en-US" sz="2700" i="1" dirty="0" smtClean="0"/>
              <a:t>"1.0" encoding="UTF-8"?&gt;</a:t>
            </a:r>
          </a:p>
          <a:p>
            <a:r>
              <a:rPr lang="en-US" sz="2700" dirty="0" smtClean="0"/>
              <a:t> &lt;web-app&gt;</a:t>
            </a:r>
          </a:p>
          <a:p>
            <a:r>
              <a:rPr lang="en-US" sz="2700" dirty="0" smtClean="0"/>
              <a:t>    &lt;servlet&gt;    </a:t>
            </a:r>
          </a:p>
          <a:p>
            <a:r>
              <a:rPr lang="en-US" sz="2700" dirty="0" smtClean="0"/>
              <a:t>        &lt;servlet-name&gt;</a:t>
            </a:r>
            <a:r>
              <a:rPr lang="en-US" sz="2700" dirty="0" err="1" smtClean="0"/>
              <a:t>FirstServlet</a:t>
            </a:r>
            <a:r>
              <a:rPr lang="en-US" sz="2700" dirty="0" smtClean="0"/>
              <a:t>&lt;/servlet-name&gt;</a:t>
            </a:r>
          </a:p>
          <a:p>
            <a:r>
              <a:rPr lang="en-US" sz="2700" dirty="0" smtClean="0"/>
              <a:t>        &lt;servlet-class&gt;</a:t>
            </a:r>
            <a:r>
              <a:rPr lang="en-US" sz="2700" dirty="0" err="1" smtClean="0"/>
              <a:t>com.mycompany.FirstServlet</a:t>
            </a:r>
            <a:r>
              <a:rPr lang="en-US" sz="2700" dirty="0" smtClean="0"/>
              <a:t>&lt;/servlet- 									class&gt;</a:t>
            </a:r>
          </a:p>
          <a:p>
            <a:r>
              <a:rPr lang="en-US" sz="2700" dirty="0" smtClean="0"/>
              <a:t>   &lt;/servlet&gt;</a:t>
            </a:r>
          </a:p>
          <a:p>
            <a:r>
              <a:rPr lang="en-US" sz="2700" dirty="0" smtClean="0"/>
              <a:t>   &lt;servlet-mapping&gt;</a:t>
            </a:r>
          </a:p>
          <a:p>
            <a:r>
              <a:rPr lang="en-US" sz="2700" dirty="0" smtClean="0"/>
              <a:t>   	 &lt;servlet-name&gt;</a:t>
            </a:r>
            <a:r>
              <a:rPr lang="en-US" sz="2700" dirty="0" err="1" smtClean="0"/>
              <a:t>FirstServlet</a:t>
            </a:r>
            <a:r>
              <a:rPr lang="en-US" sz="2700" dirty="0" smtClean="0"/>
              <a:t>&lt;/servlet-name&gt;</a:t>
            </a:r>
          </a:p>
          <a:p>
            <a:r>
              <a:rPr lang="en-US" sz="2700" dirty="0" smtClean="0"/>
              <a:t>            &lt;</a:t>
            </a:r>
            <a:r>
              <a:rPr lang="en-US" sz="2700" dirty="0" err="1" smtClean="0"/>
              <a:t>url</a:t>
            </a:r>
            <a:r>
              <a:rPr lang="en-US" sz="2700" dirty="0" smtClean="0"/>
              <a:t>-pattern&gt;/</a:t>
            </a:r>
            <a:r>
              <a:rPr lang="en-US" sz="2700" dirty="0" err="1" smtClean="0"/>
              <a:t>FirstServlet</a:t>
            </a:r>
            <a:r>
              <a:rPr lang="en-US" sz="2700" dirty="0" smtClean="0"/>
              <a:t>&lt;/</a:t>
            </a:r>
            <a:r>
              <a:rPr lang="en-US" sz="2700" dirty="0" err="1" smtClean="0"/>
              <a:t>url</a:t>
            </a:r>
            <a:r>
              <a:rPr lang="en-US" sz="2700" dirty="0" smtClean="0"/>
              <a:t>-pattern&gt;</a:t>
            </a:r>
          </a:p>
          <a:p>
            <a:r>
              <a:rPr lang="en-US" sz="2700" dirty="0" smtClean="0"/>
              <a:t>   &lt;/servlet-mapping&gt;</a:t>
            </a:r>
          </a:p>
          <a:p>
            <a:r>
              <a:rPr lang="en-US" sz="2700" dirty="0" smtClean="0"/>
              <a:t>&lt;/web-app&gt;</a:t>
            </a:r>
            <a:endParaRPr lang="en-US" sz="2700" dirty="0"/>
          </a:p>
        </p:txBody>
      </p:sp>
      <p:sp>
        <p:nvSpPr>
          <p:cNvPr id="4" name="Rectangle 3"/>
          <p:cNvSpPr/>
          <p:nvPr/>
        </p:nvSpPr>
        <p:spPr>
          <a:xfrm>
            <a:off x="4357686" y="5143512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The logical name associated with </a:t>
            </a:r>
            <a:r>
              <a:rPr lang="en-IN" dirty="0" err="1" smtClean="0"/>
              <a:t>url</a:t>
            </a:r>
            <a:r>
              <a:rPr lang="en-IN" dirty="0" smtClean="0"/>
              <a:t> pattern is  </a:t>
            </a:r>
            <a:r>
              <a:rPr lang="en-IN" dirty="0" err="1" smtClean="0"/>
              <a:t>FirstServlet</a:t>
            </a:r>
            <a:r>
              <a:rPr lang="en-IN" dirty="0" smtClean="0"/>
              <a:t>  . </a:t>
            </a:r>
          </a:p>
          <a:p>
            <a:r>
              <a:rPr lang="en-IN" dirty="0" smtClean="0"/>
              <a:t>Logical name , this and that logical names are matched so </a:t>
            </a:r>
            <a:r>
              <a:rPr lang="en-IN" dirty="0" err="1" smtClean="0"/>
              <a:t>com.tcs.FirsrServlet</a:t>
            </a:r>
            <a:r>
              <a:rPr lang="en-IN" dirty="0" smtClean="0"/>
              <a:t> class will be executed.</a:t>
            </a:r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034" y="1000108"/>
            <a:ext cx="778674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/>
              <a:t>Root tag of web.xml file is &lt;web-app&gt;</a:t>
            </a:r>
          </a:p>
          <a:p>
            <a:r>
              <a:rPr lang="en-IN" sz="2800" dirty="0" smtClean="0"/>
              <a:t>And it has two child tags</a:t>
            </a:r>
          </a:p>
          <a:p>
            <a:r>
              <a:rPr lang="en-IN" sz="2800" dirty="0" smtClean="0"/>
              <a:t>&lt;servlet&gt;</a:t>
            </a:r>
          </a:p>
          <a:p>
            <a:r>
              <a:rPr lang="en-IN" sz="2800" dirty="0" smtClean="0"/>
              <a:t>&lt;servlet-mapping&gt;</a:t>
            </a:r>
          </a:p>
          <a:p>
            <a:endParaRPr lang="en-IN" sz="2800" dirty="0" smtClean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282" y="428604"/>
            <a:ext cx="850112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 smtClean="0"/>
              <a:t>By default class name is taken as URL pattern , in browser window when you type the URL pattern , that URL pattern comes to server side , in the server side it will check in web.xml file . In web.xml file the url is matched , for that URL pattern the logical name is “FirstServlet” , with that logical name which class is configured , that class will be taken .</a:t>
            </a:r>
            <a:endParaRPr lang="en-US" sz="3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214291"/>
            <a:ext cx="9144000" cy="6219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5" y="414338"/>
            <a:ext cx="6515124" cy="602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38113"/>
            <a:ext cx="8215369" cy="658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47638"/>
            <a:ext cx="8072494" cy="656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38113"/>
            <a:ext cx="7929617" cy="658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448376"/>
            <a:ext cx="8215369" cy="634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428604"/>
            <a:ext cx="8572560" cy="6072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5838" y="785794"/>
            <a:ext cx="7172325" cy="5214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85728"/>
            <a:ext cx="7486679" cy="6072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7" y="297180"/>
            <a:ext cx="8005792" cy="6051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14313"/>
            <a:ext cx="8429683" cy="642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57163"/>
            <a:ext cx="7643866" cy="654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178" y="928670"/>
            <a:ext cx="8862540" cy="4748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571480"/>
            <a:ext cx="7959288" cy="550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428604"/>
            <a:ext cx="8215370" cy="6143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357158" y="0"/>
            <a:ext cx="65722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 smtClean="0">
                <a:solidFill>
                  <a:srgbClr val="FF0000"/>
                </a:solidFill>
              </a:rPr>
              <a:t>Approach -2 for creating a Servlet</a:t>
            </a:r>
            <a:endParaRPr lang="en-US" sz="3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85728"/>
            <a:ext cx="8547690" cy="5857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14290"/>
            <a:ext cx="8286808" cy="6215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256593"/>
            <a:ext cx="7500990" cy="6284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5047" y="714356"/>
            <a:ext cx="7796043" cy="5472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428604"/>
            <a:ext cx="7215238" cy="5837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0"/>
            <a:ext cx="6929486" cy="6583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357166"/>
            <a:ext cx="7072362" cy="6216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63831"/>
            <a:ext cx="7143800" cy="6598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8792448" cy="6643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0"/>
            <a:ext cx="8715436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214290"/>
            <a:ext cx="8715436" cy="6643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214290"/>
            <a:ext cx="8215370" cy="6225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76213"/>
            <a:ext cx="7429551" cy="650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66913" y="166688"/>
            <a:ext cx="5210175" cy="652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571480"/>
            <a:ext cx="8302629" cy="5929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785794"/>
            <a:ext cx="7307506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654</Words>
  <Application>Microsoft Office PowerPoint</Application>
  <PresentationFormat>On-screen Show (4:3)</PresentationFormat>
  <Paragraphs>95</Paragraphs>
  <Slides>133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133</vt:i4>
      </vt:variant>
    </vt:vector>
  </HeadingPairs>
  <TitlesOfParts>
    <vt:vector size="13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MY WORLD</dc:creator>
  <cp:lastModifiedBy>CCC</cp:lastModifiedBy>
  <cp:revision>224</cp:revision>
  <dcterms:created xsi:type="dcterms:W3CDTF">2006-08-16T00:00:00Z</dcterms:created>
  <dcterms:modified xsi:type="dcterms:W3CDTF">2022-10-13T05:20:17Z</dcterms:modified>
</cp:coreProperties>
</file>